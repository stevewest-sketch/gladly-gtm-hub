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196" y="830163"/>
            <a:ext cx="1237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LOGO]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1623864"/>
            <a:ext cx="8031682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2000"/>
              </a:spcAft>
              <a:buNone/>
            </a:pPr>
            <a:r>
              <a:rPr lang="en-US" sz="4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Deployment</a:t>
            </a:r>
            <a:endParaRPr lang="en-US" sz="4200" dirty="0"/>
          </a:p>
          <a:p>
            <a:pPr algn="l" indent="0" marL="0">
              <a:lnSpc>
                <a:spcPts val="5040"/>
              </a:lnSpc>
              <a:spcAft>
                <a:spcPts val="2000"/>
              </a:spcAft>
              <a:buNone/>
            </a:pPr>
            <a:r>
              <a:rPr lang="en-US" sz="4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Kickoff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34901" y="3157686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 for AI-powered customer experience success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455622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93750"/>
            <a:ext cx="3368394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Opportunity</a:t>
            </a:r>
            <a:endParaRPr lang="en-US" sz="2800" dirty="0"/>
          </a:p>
          <a:p>
            <a:pPr algn="l" indent="0" marL="0">
              <a:lnSpc>
                <a:spcPts val="364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2308473"/>
            <a:ext cx="336839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customer experience isn't just about efficiency. It's about delivering exceptional service at scale while building lasting customer relationships.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18248" y="570012"/>
            <a:ext cx="4190851" cy="3428851"/>
          </a:xfrm>
          <a:prstGeom prst="roundRect">
            <a:avLst>
              <a:gd name="adj" fmla="val 44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19698" y="887462"/>
            <a:ext cx="163205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619698" y="1417588"/>
            <a:ext cx="16320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Coverage</a:t>
            </a:r>
            <a:endParaRPr lang="en-US" sz="10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75597" y="887462"/>
            <a:ext cx="163205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75597" y="1417588"/>
            <a:ext cx="16320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</a:t>
            </a:r>
            <a:endParaRPr lang="en-US" sz="10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ROI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35698" y="1957239"/>
            <a:ext cx="3555950" cy="126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00139" y="2160389"/>
            <a:ext cx="3627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00139" y="2690515"/>
            <a:ext cx="3627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Rate Increase in First 30 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93650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AI Adoption Pathway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7576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your way, against your use cases, at your 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09526"/>
            <a:ext cx="2624733" cy="3092797"/>
          </a:xfrm>
          <a:prstGeom prst="roundRect">
            <a:avLst>
              <a:gd name="adj" fmla="val 580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14634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7091" y="153635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302" y="1483965"/>
            <a:ext cx="1086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302" y="1655415"/>
            <a:ext cx="1086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Containment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8802" y="2098328"/>
            <a:ext cx="21592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Center Foundation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8802" y="2385268"/>
            <a:ext cx="2116931" cy="92035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existing Help Center content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baseline automation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confidence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core workflows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59634" y="1209526"/>
            <a:ext cx="2624733" cy="3092797"/>
          </a:xfrm>
          <a:prstGeom prst="roundRect">
            <a:avLst>
              <a:gd name="adj" fmla="val 580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3534" y="14634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41824" y="153635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6035" y="1483965"/>
            <a:ext cx="1086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96035" y="1655415"/>
            <a:ext cx="1086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Containment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3534" y="2098328"/>
            <a:ext cx="21592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Intelligence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13534" y="2385268"/>
            <a:ext cx="2116931" cy="78700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DATA for personalization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Actions for account mgmt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refunds &amp; updates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ROI gains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84366" y="1209526"/>
            <a:ext cx="2624733" cy="3092797"/>
          </a:xfrm>
          <a:prstGeom prst="roundRect">
            <a:avLst>
              <a:gd name="adj" fmla="val 580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38267" y="14634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66557" y="153635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0768" y="1483965"/>
            <a:ext cx="1086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0768" y="1655415"/>
            <a:ext cx="1086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Containment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8267" y="2098328"/>
            <a:ext cx="21592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AI Automation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38267" y="2385268"/>
            <a:ext cx="2116931" cy="78700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Rules engine for routing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high-quality Answers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</a:t>
            </a:r>
            <a:endParaRPr lang="en-US" sz="9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performance &amp; CX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93650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Gladly Your 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7576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full control to fully managed - deploy at your 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7227"/>
            <a:ext cx="6541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15250" y="1387227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4901" y="1698278"/>
            <a:ext cx="1574899" cy="101501"/>
          </a:xfrm>
          <a:prstGeom prst="rect">
            <a:avLst/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09800" y="1698278"/>
            <a:ext cx="1574899" cy="101501"/>
          </a:xfrm>
          <a:prstGeom prst="rect">
            <a:avLst/>
          </a:prstGeom>
          <a:solidFill>
            <a:srgbClr val="A88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84699" y="1698278"/>
            <a:ext cx="1574899" cy="101501"/>
          </a:xfrm>
          <a:prstGeom prst="rect">
            <a:avLst/>
          </a:prstGeom>
          <a:solidFill>
            <a:srgbClr val="C5B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9598" y="1698278"/>
            <a:ext cx="1574899" cy="101501"/>
          </a:xfrm>
          <a:prstGeom prst="rect">
            <a:avLst/>
          </a:prstGeom>
          <a:solidFill>
            <a:srgbClr val="CDEF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34498" y="1698278"/>
            <a:ext cx="1574899" cy="101501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0296" y="2091779"/>
            <a:ext cx="1489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APIs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0296" y="2320379"/>
            <a:ext cx="148965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flexibility for engineers. Own the model, prompts, and workflows.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0296" y="2848719"/>
            <a:ext cx="148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Strong in-house ENG/ML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23622" y="2091779"/>
            <a:ext cx="1489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23622" y="2320379"/>
            <a:ext cx="148965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fast with no-code + expert help. Playbooks &amp; templates.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23622" y="2848719"/>
            <a:ext cx="148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Lean teams, time-to-value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26947" y="2091779"/>
            <a:ext cx="1489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Co-Pilot 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26947" y="2320379"/>
            <a:ext cx="148965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agents in the loop. Assist + automate high-volume actions.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26947" y="2706439"/>
            <a:ext cx="148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Complex edge cases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30272" y="2091779"/>
            <a:ext cx="1489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30272" y="2320379"/>
            <a:ext cx="148965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automation for defined intents with SLAs.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30272" y="2706439"/>
            <a:ext cx="148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Stable policies, mid-high vol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33598" y="2091779"/>
            <a:ext cx="1489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Glove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33598" y="2320379"/>
            <a:ext cx="148965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configure, run, and optimize. Reviews &amp; analytics included.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33598" y="2706439"/>
            <a:ext cx="1489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Resource-constrained teams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93650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Success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7576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measure together to validate success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09526"/>
            <a:ext cx="2270075" cy="1586805"/>
          </a:xfrm>
          <a:prstGeom prst="roundRect">
            <a:avLst>
              <a:gd name="adj" fmla="val 8003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1209526"/>
            <a:ext cx="0" cy="1586805"/>
          </a:xfrm>
          <a:prstGeom prst="line">
            <a:avLst/>
          </a:prstGeom>
          <a:noFill/>
          <a:ln w="47625">
            <a:solidFill>
              <a:srgbClr val="009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026" y="1400026"/>
            <a:ext cx="1878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Quality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3026" y="1672977"/>
            <a:ext cx="1841450" cy="86945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rate across top contact reasons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accuracy &amp; completeness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completion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95476" y="1209526"/>
            <a:ext cx="2270075" cy="1586805"/>
          </a:xfrm>
          <a:prstGeom prst="roundRect">
            <a:avLst>
              <a:gd name="adj" fmla="val 8003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19289" y="1209526"/>
            <a:ext cx="0" cy="1586805"/>
          </a:xfrm>
          <a:prstGeom prst="line">
            <a:avLst/>
          </a:prstGeom>
          <a:noFill/>
          <a:ln w="47625">
            <a:solidFill>
              <a:srgbClr val="009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3601" y="1400026"/>
            <a:ext cx="1878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Admin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3601" y="1672977"/>
            <a:ext cx="1841450" cy="72092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usability - easy to build &amp; iterate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testing experience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&amp; debug-ability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56052" y="1209526"/>
            <a:ext cx="2270075" cy="1586805"/>
          </a:xfrm>
          <a:prstGeom prst="roundRect">
            <a:avLst>
              <a:gd name="adj" fmla="val 8003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79864" y="1209526"/>
            <a:ext cx="0" cy="1586805"/>
          </a:xfrm>
          <a:prstGeom prst="line">
            <a:avLst/>
          </a:prstGeom>
          <a:noFill/>
          <a:ln w="47625">
            <a:solidFill>
              <a:srgbClr val="00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4177" y="1400026"/>
            <a:ext cx="1878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Recognition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94177" y="1672977"/>
            <a:ext cx="1841450" cy="57239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quality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adherence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consistency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2986832"/>
            <a:ext cx="2270075" cy="1289745"/>
          </a:xfrm>
          <a:prstGeom prst="roundRect">
            <a:avLst>
              <a:gd name="adj" fmla="val 9847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8713" y="2986832"/>
            <a:ext cx="0" cy="1289745"/>
          </a:xfrm>
          <a:prstGeom prst="line">
            <a:avLst/>
          </a:prstGeom>
          <a:noFill/>
          <a:ln w="47625">
            <a:solidFill>
              <a:srgbClr val="00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026" y="3177332"/>
            <a:ext cx="1878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026" y="3450282"/>
            <a:ext cx="1841450" cy="57239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availability &amp; support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quality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Responsiveness &amp; collaboration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93650"/>
            <a:ext cx="385386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Accomplish Together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289000"/>
            <a:ext cx="38538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20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POC is a collaborative partnership. We'll work together to validate Gladly AI against your specific use cases and success criteria.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2171551"/>
            <a:ext cx="38538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469952"/>
            <a:ext cx="3778300" cy="800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2-5 key questions/use cases to test</a:t>
            </a:r>
            <a:endParaRPr lang="en-US" sz="10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access to workflows &amp; knowledge base</a:t>
            </a:r>
            <a:endParaRPr lang="en-US" sz="10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 time for working sessions</a:t>
            </a:r>
            <a:endParaRPr lang="en-US" sz="10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feedback openly and often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0651" y="393650"/>
            <a:ext cx="3778300" cy="923181"/>
          </a:xfrm>
          <a:prstGeom prst="roundRect">
            <a:avLst>
              <a:gd name="adj" fmla="val 137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1151" y="58415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9441" y="65707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29101" y="584150"/>
            <a:ext cx="29471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29101" y="806351"/>
            <a:ext cx="29471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your top contact reasons, integrate knowledge base, configure initial Guides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30651" y="1469231"/>
            <a:ext cx="3778300" cy="923181"/>
          </a:xfrm>
          <a:prstGeom prst="roundRect">
            <a:avLst>
              <a:gd name="adj" fmla="val 137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1151" y="165973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9441" y="173265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9101" y="1659731"/>
            <a:ext cx="29471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Iteration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9101" y="1881932"/>
            <a:ext cx="29471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 conversations, refine responses, optimize for your tone and policies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30651" y="2544812"/>
            <a:ext cx="3778300" cy="923181"/>
          </a:xfrm>
          <a:prstGeom prst="roundRect">
            <a:avLst>
              <a:gd name="adj" fmla="val 137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1151" y="273531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9441" y="280823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29101" y="2735312"/>
            <a:ext cx="29471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Results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29101" y="2957513"/>
            <a:ext cx="29471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against success criteria, document learnings, plan next steps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93650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33351" y="999976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55812" y="1372939"/>
            <a:ext cx="444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041" y="2079427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2380952"/>
            <a:ext cx="2286000" cy="7236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channel created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sync scheduled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contact reasons identified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Guides configured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27450" y="999976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49911" y="1372939"/>
            <a:ext cx="444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6140" y="2079427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380952"/>
            <a:ext cx="2286000" cy="7236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working session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2-5 use cases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Guides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tone &amp; guardrails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21550" y="999976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4010" y="1372939"/>
            <a:ext cx="444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00239" y="2079427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23099" y="2380952"/>
            <a:ext cx="2286000" cy="7236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success criteria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results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expansion path</a:t>
            </a:r>
            <a:endParaRPr lang="en-US" sz="9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discussion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901" y="3485406"/>
            <a:ext cx="7874198" cy="552450"/>
          </a:xfrm>
          <a:prstGeom prst="roundRect">
            <a:avLst>
              <a:gd name="adj" fmla="val 22988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52351" y="3675906"/>
            <a:ext cx="15893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6689" y="3685431"/>
            <a:ext cx="3554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your first working session within the next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784027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succeed with your POC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45977"/>
            <a:ext cx="2768352" cy="1136898"/>
          </a:xfrm>
          <a:prstGeom prst="roundRect">
            <a:avLst>
              <a:gd name="adj" fmla="val 11171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602" y="1323677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Help Docs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602" y="1625203"/>
            <a:ext cx="246120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documentation and best practices for all Gladly features and configurations.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93753" y="1145977"/>
            <a:ext cx="2768352" cy="1136898"/>
          </a:xfrm>
          <a:prstGeom prst="roundRect">
            <a:avLst>
              <a:gd name="adj" fmla="val 11171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71454" y="1323677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Academy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71454" y="1625203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Self-paced training modules covering Sidekick, Guides, Answers, and more.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2473375"/>
            <a:ext cx="2768352" cy="976908"/>
          </a:xfrm>
          <a:prstGeom prst="roundRect">
            <a:avLst>
              <a:gd name="adj" fmla="val 13000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602" y="2651075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602" y="2952601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time slots for questions, training, and hands-on guidance from our team.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93753" y="2473375"/>
            <a:ext cx="2768352" cy="976908"/>
          </a:xfrm>
          <a:prstGeom prst="roundRect">
            <a:avLst>
              <a:gd name="adj" fmla="val 13000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71454" y="2651075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Channel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71454" y="2952601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async support and collaboration with your dedicated POC team.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3640782"/>
            <a:ext cx="7874198" cy="653951"/>
          </a:xfrm>
          <a:prstGeom prst="roundRect">
            <a:avLst>
              <a:gd name="adj" fmla="val 1942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44564" y="3793182"/>
            <a:ext cx="1453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Team Lead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564" y="3989933"/>
            <a:ext cx="14533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Gladly Contact]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9236" y="3793182"/>
            <a:ext cx="1772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Channel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79236" y="3989933"/>
            <a:ext cx="1772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#shared-[company]-gladly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37334" y="3793182"/>
            <a:ext cx="1057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Syncs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37334" y="3989933"/>
            <a:ext cx="1057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[Day/Time TBD]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39046" y="4683175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39" y="1189137"/>
            <a:ext cx="625177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 Great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37846" y="1903512"/>
            <a:ext cx="54683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excited to partner with [COMPANY] on this AI journey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66293" y="2649587"/>
            <a:ext cx="3211413" cy="590550"/>
          </a:xfrm>
          <a:prstGeom prst="roundRect">
            <a:avLst>
              <a:gd name="adj" fmla="val 17204"/>
            </a:avLst>
          </a:prstGeom>
          <a:solidFill>
            <a:srgbClr val="00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2289" y="2840087"/>
            <a:ext cx="22394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39046" y="455622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Deployment POC Kickoff</dc:title>
  <dc:subject>POC Kickoff Presentation</dc:subject>
  <dc:creator>Gladly</dc:creator>
  <cp:lastModifiedBy>Gladly</cp:lastModifiedBy>
  <cp:revision>1</cp:revision>
  <dcterms:created xsi:type="dcterms:W3CDTF">2025-12-20T16:09:10Z</dcterms:created>
  <dcterms:modified xsi:type="dcterms:W3CDTF">2025-12-20T16:09:10Z</dcterms:modified>
</cp:coreProperties>
</file>